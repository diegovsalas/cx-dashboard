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C9CAC"/>
                </a:solidFill>
                <a:latin typeface="Calibri"/>
              </a:defRPr>
            </a:pPr>
            <a:r>
              <a:t>GRUPO AVANTEX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83080"/>
            <a:ext cx="1828800" cy="18288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Bot WhatsApp &amp;</a:t>
            </a:r>
            <a:br/>
            <a:r>
              <a:t>Dashboard 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CAC"/>
                </a:solidFill>
                <a:latin typeface="Calibri"/>
              </a:defRPr>
            </a:pPr>
            <a:r>
              <a:t>Nuevo sistema de atención al cliente para reportes</a:t>
            </a:r>
            <a:br/>
            <a:r>
              <a:t>de incidencias, quejas y cancelaciones de servicio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97680"/>
            <a:ext cx="1353312" cy="274320"/>
          </a:xfrm>
          <a:prstGeom prst="roundRect">
            <a:avLst/>
          </a:prstGeom>
          <a:solidFill>
            <a:srgbClr val="1A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5D366"/>
                </a:solidFill>
                <a:latin typeface="Calibri"/>
              </a:defRPr>
            </a:pPr>
            <a:r>
              <a:t>WhatsApp 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4297680"/>
            <a:ext cx="1353312" cy="274320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429768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8BF2"/>
                </a:solidFill>
                <a:latin typeface="Calibri"/>
              </a:defRPr>
            </a:pPr>
            <a:r>
              <a:t>Dashboard CX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4297680"/>
            <a:ext cx="1353312" cy="274320"/>
          </a:xfrm>
          <a:prstGeom prst="roundRect">
            <a:avLst/>
          </a:prstGeom>
          <a:solidFill>
            <a:srgbClr val="25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429768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Calibri"/>
              </a:defRPr>
            </a:pPr>
            <a:r>
              <a:t>Chat Agentes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029200"/>
            <a:ext cx="4114800" cy="594360"/>
          </a:xfrm>
          <a:prstGeom prst="roundRect">
            <a:avLst/>
          </a:prstGeom>
          <a:solidFill>
            <a:srgbClr val="152E1A"/>
          </a:solidFill>
          <a:ln w="1270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D366"/>
                </a:solidFill>
                <a:latin typeface="Calibri"/>
              </a:defRPr>
            </a:pPr>
            <a:r>
              <a:t>+52 449 156 1238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AC"/>
                </a:solidFill>
                <a:latin typeface="Calibri"/>
              </a:defRPr>
            </a:pPr>
            <a:r>
              <a:t>Customer Experience  ·  Abril 2026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0" y="1828800"/>
            <a:ext cx="1645920" cy="1645920"/>
          </a:xfrm>
          <a:prstGeom prst="ellipse">
            <a:avLst/>
          </a:prstGeom>
          <a:solidFill>
            <a:srgbClr val="25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0" y="4114800"/>
            <a:ext cx="1097280" cy="1097280"/>
          </a:xfrm>
          <a:prstGeom prst="ellipse">
            <a:avLst/>
          </a:prstGeom>
          <a:solidFill>
            <a:srgbClr val="222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0" y="5029200"/>
            <a:ext cx="731520" cy="731520"/>
          </a:xfrm>
          <a:prstGeom prst="ellipse">
            <a:avLst/>
          </a:prstGeom>
          <a:solidFill>
            <a:srgbClr val="28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8BF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1E2E"/>
                </a:solidFill>
                <a:latin typeface="Calibri"/>
              </a:defRPr>
            </a:pPr>
            <a:r>
              <a:t>Flujo del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Cómo funciona el reporte de incidencias y cancelaciones por WhatsApp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94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394960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📋  Flujo de Incidencias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Hola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185623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98448" y="1874519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1874519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Nombre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185623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5376" y="1874519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65376" y="1874519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Empresa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185623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32304" y="1874519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32304" y="1874519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Sucursal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9504" y="185623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9232" y="1874519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1874519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Servicio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185623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1874519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1874519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Tipo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185623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33088" y="1874519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33088" y="1874519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Descripción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185623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00016" y="1874519"/>
            <a:ext cx="640080" cy="256032"/>
          </a:xfrm>
          <a:prstGeom prst="round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87451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FOLIO 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286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000" b="1">
                <a:solidFill>
                  <a:srgbClr val="0D8BF2"/>
                </a:solidFill>
                <a:latin typeface="Calibri"/>
              </a:defRPr>
            </a:pPr>
            <a:r>
              <a:t>Servicios:  Aromatex  ·  Pestex  ·  Weldex</a:t>
            </a:r>
          </a:p>
          <a:p>
            <a:pPr>
              <a:spcBef>
                <a:spcPts val="100"/>
              </a:spcBef>
              <a:defRPr sz="1000" b="0">
                <a:solidFill>
                  <a:srgbClr val="6B6B7B"/>
                </a:solidFill>
                <a:latin typeface="Calibri"/>
              </a:defRPr>
            </a:pPr>
            <a:r>
              <a:t>El cliente puede consultar su ticket, enviar evidencia</a:t>
            </a:r>
          </a:p>
          <a:p>
            <a:pPr>
              <a:spcBef>
                <a:spcPts val="100"/>
              </a:spcBef>
              <a:defRPr sz="1000" b="0">
                <a:solidFill>
                  <a:srgbClr val="6B6B7B"/>
                </a:solidFill>
                <a:latin typeface="Calibri"/>
              </a:defRPr>
            </a:pPr>
            <a:r>
              <a:t>o solicitar agente humano en cualquier momento.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931920"/>
            <a:ext cx="5394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931920"/>
            <a:ext cx="53949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🔴  Flujo de Cancelaciones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526280"/>
            <a:ext cx="594360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52628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"Cancelar"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2728" y="450799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62456" y="4526280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62456" y="452628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Confirmar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9656" y="450799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29384" y="4526280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29384" y="452628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Nombre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86584" y="450799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96312" y="4526280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96312" y="452628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Empresa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3512" y="450799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63240" y="4526280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63240" y="452628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Servicio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0440" y="450799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30168" y="4526280"/>
            <a:ext cx="530352" cy="256032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30168" y="452628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1E2E"/>
                </a:solidFill>
                <a:latin typeface="Calibri"/>
              </a:defRPr>
            </a:pPr>
            <a:r>
              <a:t>Motivo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87368" y="450799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97096" y="4526280"/>
            <a:ext cx="640080" cy="2560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97096" y="45262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FOLIO 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9834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000" b="0">
                <a:solidFill>
                  <a:srgbClr val="6B6B7B"/>
                </a:solidFill>
                <a:latin typeface="Calibri"/>
              </a:defRPr>
            </a:pPr>
            <a:r>
              <a:t>Detección automática de intención de cancelar.</a:t>
            </a:r>
          </a:p>
          <a:p>
            <a:pPr>
              <a:spcBef>
                <a:spcPts val="100"/>
              </a:spcBef>
              <a:defRPr sz="1000" b="0">
                <a:solidFill>
                  <a:srgbClr val="6B6B7B"/>
                </a:solidFill>
                <a:latin typeface="Calibri"/>
              </a:defRPr>
            </a:pPr>
            <a:r>
              <a:t>Se envían cláusulas de carta convenio.</a:t>
            </a:r>
          </a:p>
          <a:p>
            <a:pPr>
              <a:spcBef>
                <a:spcPts val="100"/>
              </a:spcBef>
              <a:defRPr sz="1000" b="1">
                <a:solidFill>
                  <a:srgbClr val="EF4444"/>
                </a:solidFill>
                <a:latin typeface="Calibri"/>
              </a:defRPr>
            </a:pPr>
            <a:r>
              <a:t>Prioridad Alta → asignado a nallelyquiroz.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128016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👥  Asignación Automática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18745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E2E"/>
                </a:solidFill>
                <a:latin typeface="Calibri"/>
              </a:defRPr>
            </a:pPr>
            <a:r>
              <a:t>→  Incidencias / Quejas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01200" y="1901951"/>
            <a:ext cx="1097280" cy="274320"/>
          </a:xfrm>
          <a:prstGeom prst="round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0" y="190195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anakaren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222199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E2E"/>
                </a:solidFill>
                <a:latin typeface="Calibri"/>
              </a:defRPr>
            </a:pPr>
            <a:r>
              <a:t>→  Cambio de aroma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01200" y="2249423"/>
            <a:ext cx="1097280" cy="274320"/>
          </a:xfrm>
          <a:prstGeom prst="round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01200" y="2249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anakaren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2569463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E2E"/>
                </a:solidFill>
                <a:latin typeface="Calibri"/>
              </a:defRPr>
            </a:pPr>
            <a:r>
              <a:t>→  Cliente pide agente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01200" y="2596895"/>
            <a:ext cx="1097280" cy="274320"/>
          </a:xfrm>
          <a:prstGeom prst="round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01200" y="259689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anakaren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2240" y="29169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E2E"/>
                </a:solidFill>
                <a:latin typeface="Calibri"/>
              </a:defRPr>
            </a:pPr>
            <a:r>
              <a:t>→  Cancelaciones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01200" y="2944368"/>
            <a:ext cx="1435607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0" y="2944368"/>
            <a:ext cx="1435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nallelyquiroz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0" y="32644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E2E"/>
                </a:solidFill>
                <a:latin typeface="Calibri"/>
              </a:defRPr>
            </a:pPr>
            <a:r>
              <a:t>→  Escalado (kanban)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01200" y="3291839"/>
            <a:ext cx="1517904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01200" y="3291839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diegovelazquez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92240" y="3337560"/>
            <a:ext cx="4937760" cy="274320"/>
          </a:xfrm>
          <a:prstGeom prst="roundRect">
            <a:avLst/>
          </a:prstGeom>
          <a:solidFill>
            <a:srgbClr val="E3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7512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D8BF2"/>
                </a:solidFill>
                <a:latin typeface="Calibri"/>
              </a:defRPr>
            </a:pPr>
            <a:r>
              <a:t>🔔  Cada agente recibe WhatsApp con datos del cliente + link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17920" y="3931920"/>
            <a:ext cx="25603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17920" y="393192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922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⏰  Horario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2240" y="4480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900" b="1">
                <a:solidFill>
                  <a:srgbClr val="1E1E2E"/>
                </a:solidFill>
                <a:latin typeface="Calibri"/>
              </a:defRPr>
            </a:pPr>
            <a:r>
              <a:t>Lunes a viernes</a:t>
            </a:r>
          </a:p>
          <a:p>
            <a:pPr>
              <a:spcBef>
                <a:spcPts val="100"/>
              </a:spcBef>
              <a:defRPr sz="900" b="0">
                <a:solidFill>
                  <a:srgbClr val="6B6B7B"/>
                </a:solidFill>
                <a:latin typeface="Calibri"/>
              </a:defRPr>
            </a:pPr>
            <a:r>
              <a:t>7:30 a.m. – 6:00 p.m.</a:t>
            </a:r>
          </a:p>
          <a:p>
            <a:pPr>
              <a:spcBef>
                <a:spcPts val="100"/>
              </a:spcBef>
              <a:defRPr sz="900" b="0">
                <a:solidFill>
                  <a:srgbClr val="6B6B7B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defRPr sz="900" b="1">
                <a:solidFill>
                  <a:srgbClr val="1E1E2E"/>
                </a:solidFill>
                <a:latin typeface="Calibri"/>
              </a:defRPr>
            </a:pPr>
            <a:r>
              <a:t>Sábados</a:t>
            </a:r>
          </a:p>
          <a:p>
            <a:pPr>
              <a:spcBef>
                <a:spcPts val="100"/>
              </a:spcBef>
              <a:defRPr sz="900" b="0">
                <a:solidFill>
                  <a:srgbClr val="6B6B7B"/>
                </a:solidFill>
                <a:latin typeface="Calibri"/>
              </a:defRPr>
            </a:pPr>
            <a:r>
              <a:t>9:00 a.m. – 12:00 p.m.</a:t>
            </a:r>
          </a:p>
          <a:p>
            <a:pPr>
              <a:spcBef>
                <a:spcPts val="100"/>
              </a:spcBef>
              <a:defRPr sz="900" b="0">
                <a:solidFill>
                  <a:srgbClr val="6B6B7B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defRPr sz="900" b="0">
                <a:solidFill>
                  <a:srgbClr val="6B6B7B"/>
                </a:solidFill>
                <a:latin typeface="Calibri"/>
              </a:defRPr>
            </a:pPr>
            <a:r>
              <a:t>Fuera de horario: ticket se</a:t>
            </a:r>
          </a:p>
          <a:p>
            <a:pPr>
              <a:spcBef>
                <a:spcPts val="100"/>
              </a:spcBef>
              <a:defRPr sz="900" b="0">
                <a:solidFill>
                  <a:srgbClr val="6B6B7B"/>
                </a:solidFill>
                <a:latin typeface="Calibri"/>
              </a:defRPr>
            </a:pPr>
            <a:r>
              <a:t>registra → siguiente día hábil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144000" y="3931920"/>
            <a:ext cx="25603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44000" y="3931920"/>
            <a:ext cx="2560320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1832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⭐  CSAT &amp; NPS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18320" y="4480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 b="0">
                <a:solidFill>
                  <a:srgbClr val="6B6B7B"/>
                </a:solidFill>
                <a:latin typeface="Calibri"/>
              </a:defRPr>
            </a:pPr>
            <a:r>
              <a:t>Encuesta 1–5 al cerrar ticket</a:t>
            </a:r>
          </a:p>
          <a:p>
            <a:pPr>
              <a:spcBef>
                <a:spcPts val="200"/>
              </a:spcBef>
              <a:defRPr sz="900" b="0">
                <a:solidFill>
                  <a:srgbClr val="6B6B7B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900" b="1">
                <a:solidFill>
                  <a:srgbClr val="25D366"/>
                </a:solidFill>
                <a:latin typeface="Calibri"/>
              </a:defRPr>
            </a:pPr>
            <a:r>
              <a:t>5  =  Promotor</a:t>
            </a:r>
          </a:p>
          <a:p>
            <a:pPr>
              <a:spcBef>
                <a:spcPts val="200"/>
              </a:spcBef>
              <a:defRPr sz="900" b="1">
                <a:solidFill>
                  <a:srgbClr val="F59E0B"/>
                </a:solidFill>
                <a:latin typeface="Calibri"/>
              </a:defRPr>
            </a:pPr>
            <a:r>
              <a:t>4  =  Pasivo</a:t>
            </a:r>
          </a:p>
          <a:p>
            <a:pPr>
              <a:spcBef>
                <a:spcPts val="200"/>
              </a:spcBef>
              <a:defRPr sz="900" b="1">
                <a:solidFill>
                  <a:srgbClr val="EF4444"/>
                </a:solidFill>
                <a:latin typeface="Calibri"/>
              </a:defRPr>
            </a:pPr>
            <a:r>
              <a:t>1-3  =  Detractor</a:t>
            </a:r>
          </a:p>
          <a:p>
            <a:pPr>
              <a:spcBef>
                <a:spcPts val="200"/>
              </a:spcBef>
              <a:defRPr sz="900" b="0">
                <a:solidFill>
                  <a:srgbClr val="6B6B7B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900" b="1">
                <a:solidFill>
                  <a:srgbClr val="1E1E2E"/>
                </a:solidFill>
                <a:latin typeface="Calibri"/>
              </a:defRPr>
            </a:pPr>
            <a:r>
              <a:t>NPS = %Prom − %Det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8BF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1E2E"/>
                </a:solidFill>
                <a:latin typeface="Calibri"/>
              </a:defRPr>
            </a:pPr>
            <a:r>
              <a:t>Dashboard CX &amp; Chat de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Plataformas para monitorear, gestionar y resolver tickets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📊  Dashboard 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4447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9CAC"/>
                </a:solidFill>
                <a:latin typeface="Calibri"/>
              </a:defRPr>
            </a:pPr>
            <a:r>
              <a:t>cx-dashboard-54yw.onrender.com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54864" cy="22860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87451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7B"/>
                </a:solidFill>
                <a:latin typeface="Calibri"/>
              </a:defRPr>
            </a:pPr>
            <a:r>
              <a:t>Guía, WhatsApp, QR, descarga guía visual para clientes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58568"/>
            <a:ext cx="54864" cy="22860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585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2585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7B"/>
                </a:solidFill>
                <a:latin typeface="Calibri"/>
              </a:defRPr>
            </a:pPr>
            <a:r>
              <a:t>KPIs, gráficas tipo/servicio/zona/mes, NPS, CSAT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642615"/>
            <a:ext cx="54864" cy="22860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42615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Registros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642615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7B"/>
                </a:solidFill>
                <a:latin typeface="Calibri"/>
              </a:defRPr>
            </a:pPr>
            <a:r>
              <a:t>Búsqueda global, filtros, modal de detalle editable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026663"/>
            <a:ext cx="54864" cy="22860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26663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Cancelaciones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026663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7B"/>
                </a:solidFill>
                <a:latin typeface="Calibri"/>
              </a:defRPr>
            </a:pPr>
            <a:r>
              <a:t>Montos: Cancelado / Retenido / En negociación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10711"/>
            <a:ext cx="54864" cy="22860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1071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Tickets WA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410711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7B"/>
                </a:solidFill>
                <a:latin typeface="Calibri"/>
              </a:defRPr>
            </a:pPr>
            <a:r>
              <a:t>Tickets del bot con zona editable, modal completo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0624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💬  Chat de Agentes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37083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9CAC"/>
                </a:solidFill>
                <a:latin typeface="Calibri"/>
              </a:defRPr>
            </a:pPr>
            <a:r>
              <a:t>avantex-bot.onrender.com/dashboard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800600"/>
            <a:ext cx="54864" cy="2011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006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8006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7B"/>
                </a:solidFill>
                <a:latin typeface="Calibri"/>
              </a:defRPr>
            </a:pPr>
            <a:r>
              <a:t>Conversaciones en tiempo real con clientes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120640"/>
            <a:ext cx="54864" cy="2011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206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Kanban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12064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7B"/>
                </a:solidFill>
                <a:latin typeface="Calibri"/>
              </a:defRPr>
            </a:pPr>
            <a:r>
              <a:t>Nuevo → En proceso → Resuelto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440680"/>
            <a:ext cx="54864" cy="2011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40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Stats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44068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7B"/>
                </a:solidFill>
                <a:latin typeface="Calibri"/>
              </a:defRPr>
            </a:pPr>
            <a:r>
              <a:t>KPIs, NPS, CSAT en tiempo real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760720"/>
            <a:ext cx="54864" cy="2011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7607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7607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7B"/>
                </a:solidFill>
                <a:latin typeface="Calibri"/>
              </a:defRPr>
            </a:pPr>
            <a:r>
              <a:t>Agente toma conversación del bot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6080760"/>
            <a:ext cx="54864" cy="2011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0807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CSAT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608076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7B"/>
                </a:solidFill>
                <a:latin typeface="Calibri"/>
              </a:defRPr>
            </a:pPr>
            <a:r>
              <a:t>Enviar encuesta de satisfacción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128016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🔐  Roles y Permisos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1920240"/>
            <a:ext cx="1188719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192024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Superadmin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9CAC"/>
                </a:solidFill>
                <a:latin typeface="Calibri"/>
              </a:defRPr>
            </a:pPr>
            <a:r>
              <a:t>diegovelazquez@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213055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7B"/>
                </a:solidFill>
                <a:latin typeface="Calibri"/>
              </a:defRPr>
            </a:pPr>
            <a:r>
              <a:t>Todo + eliminar + editar nombres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2331720"/>
            <a:ext cx="1097280" cy="274320"/>
          </a:xfrm>
          <a:prstGeom prst="round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9CAC"/>
                </a:solidFill>
                <a:latin typeface="Calibri"/>
              </a:defRPr>
            </a:pPr>
            <a:r>
              <a:t>servicioalcliente@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254203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7B"/>
                </a:solidFill>
                <a:latin typeface="Calibri"/>
              </a:defRPr>
            </a:pPr>
            <a:r>
              <a:t>Editar status, comentarios, montos, Chat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2743200"/>
            <a:ext cx="109728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Consulta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9CAC"/>
                </a:solidFill>
                <a:latin typeface="Calibri"/>
              </a:defRPr>
            </a:pPr>
            <a:r>
              <a:t>cobranza@, comercial@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29535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7B"/>
                </a:solidFill>
                <a:latin typeface="Calibri"/>
              </a:defRPr>
            </a:pPr>
            <a:r>
              <a:t>Solo lectura en dashboards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3474720"/>
            <a:ext cx="54864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3474720"/>
            <a:ext cx="5486400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✏️  Campos Editables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92240" y="4069080"/>
            <a:ext cx="1554480" cy="137160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92240" y="4069080"/>
            <a:ext cx="1554480" cy="36576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79" y="4160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Tickets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79" y="44348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00" b="0">
                <a:solidFill>
                  <a:srgbClr val="6B6B7B"/>
                </a:solidFill>
                <a:latin typeface="Calibri"/>
              </a:defRPr>
            </a:pPr>
            <a:r>
              <a:t>Status · Zona</a:t>
            </a:r>
          </a:p>
          <a:p>
            <a:pPr>
              <a:spcBef>
                <a:spcPts val="100"/>
              </a:spcBef>
              <a:defRPr sz="800" b="0">
                <a:solidFill>
                  <a:srgbClr val="6B6B7B"/>
                </a:solidFill>
                <a:latin typeface="Calibri"/>
              </a:defRPr>
            </a:pPr>
            <a:r>
              <a:t>Comentarios</a:t>
            </a:r>
          </a:p>
          <a:p>
            <a:pPr>
              <a:spcBef>
                <a:spcPts val="100"/>
              </a:spcBef>
              <a:defRPr sz="800" b="0">
                <a:solidFill>
                  <a:srgbClr val="6B6B7B"/>
                </a:solidFill>
                <a:latin typeface="Calibri"/>
              </a:defRPr>
            </a:pPr>
            <a:r>
              <a:t>Fecha solución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83879" y="4069080"/>
            <a:ext cx="1554480" cy="137160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83879" y="4069080"/>
            <a:ext cx="15544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19" y="4160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Cancelaciones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319" y="44348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00" b="0">
                <a:solidFill>
                  <a:srgbClr val="6B6B7B"/>
                </a:solidFill>
                <a:latin typeface="Calibri"/>
              </a:defRPr>
            </a:pPr>
            <a:r>
              <a:t>Status cancelación</a:t>
            </a:r>
          </a:p>
          <a:p>
            <a:pPr>
              <a:spcBef>
                <a:spcPts val="100"/>
              </a:spcBef>
              <a:defRPr sz="800" b="0">
                <a:solidFill>
                  <a:srgbClr val="6B6B7B"/>
                </a:solidFill>
                <a:latin typeface="Calibri"/>
              </a:defRPr>
            </a:pPr>
            <a:r>
              <a:t>Monto facturación</a:t>
            </a:r>
          </a:p>
          <a:p>
            <a:pPr>
              <a:spcBef>
                <a:spcPts val="100"/>
              </a:spcBef>
              <a:defRPr sz="800" b="0">
                <a:solidFill>
                  <a:srgbClr val="6B6B7B"/>
                </a:solidFill>
                <a:latin typeface="Calibri"/>
              </a:defRPr>
            </a:pPr>
            <a:r>
              <a:t>Carta convenio · 19+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875520" y="4069080"/>
            <a:ext cx="1554480" cy="137160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875520" y="4069080"/>
            <a:ext cx="15544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66960" y="4160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Al cerrar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66960" y="44348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00" b="0">
                <a:solidFill>
                  <a:srgbClr val="6B6B7B"/>
                </a:solidFill>
                <a:latin typeface="Calibri"/>
              </a:defRPr>
            </a:pPr>
            <a:r>
              <a:t>Diagnóstico *</a:t>
            </a:r>
          </a:p>
          <a:p>
            <a:pPr>
              <a:spcBef>
                <a:spcPts val="100"/>
              </a:spcBef>
              <a:defRPr sz="800" b="0">
                <a:solidFill>
                  <a:srgbClr val="6B6B7B"/>
                </a:solidFill>
                <a:latin typeface="Calibri"/>
              </a:defRPr>
            </a:pPr>
            <a:r>
              <a:t>Causa raíz *</a:t>
            </a:r>
          </a:p>
          <a:p>
            <a:pPr>
              <a:spcBef>
                <a:spcPts val="100"/>
              </a:spcBef>
              <a:defRPr sz="800" b="0">
                <a:solidFill>
                  <a:srgbClr val="6B6B7B"/>
                </a:solidFill>
                <a:latin typeface="Calibri"/>
              </a:defRPr>
            </a:pPr>
            <a:r>
              <a:t>Tiempo resp. (auto)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92240" y="5623560"/>
            <a:ext cx="4937760" cy="36576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5623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Calibri"/>
              </a:defRPr>
            </a:pPr>
            <a:r>
              <a:t>⚠️  Diagnóstico y Causa raíz son OBLIGATORIOS para cerrar un ticket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6126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9CAC"/>
                </a:solidFill>
                <a:latin typeface="Calibri"/>
              </a:defRPr>
            </a:pPr>
            <a:r>
              <a:t>* Al marcar como Resuelto o Cerrado, el sistema los pide automáticamente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8BF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1E2E"/>
                </a:solidFill>
                <a:latin typeface="Calibri"/>
              </a:defRPr>
            </a:pPr>
            <a:r>
              <a:t>¿Qué debe hacer el equipo?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Instrucciones para canalizar clientes al nuevo sistema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1005840"/>
          </a:xfrm>
          <a:prstGeom prst="roundRect">
            <a:avLst/>
          </a:prstGeom>
          <a:solidFill>
            <a:srgbClr val="E6F9EC"/>
          </a:solidFill>
          <a:ln w="1270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5E2B"/>
                </a:solidFill>
                <a:latin typeface="Calibri"/>
              </a:defRPr>
            </a:pPr>
            <a:r>
              <a:t>✅  REGLA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  <a:latin typeface="Calibri"/>
              </a:defRPr>
            </a:pPr>
            <a:r>
              <a:t>Cuando un cliente reporte una queja, oriéntalo a escribir "Hola" al WhatsApp de soporte.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200400" cy="640080"/>
          </a:xfrm>
          <a:prstGeom prst="roundRect">
            <a:avLst/>
          </a:prstGeom>
          <a:solidFill>
            <a:srgbClr val="152E1A"/>
          </a:solidFill>
          <a:ln w="1270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D366"/>
                </a:solidFill>
                <a:latin typeface="Calibri"/>
              </a:defRPr>
            </a:pPr>
            <a:r>
              <a:t>+52 449 156 1238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5486400" cy="54864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🏢  Instrucciones por área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63240"/>
            <a:ext cx="54864" cy="27432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Administración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063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Calibri"/>
              </a:defRPr>
            </a:pPr>
            <a:r>
              <a:t>Compartir número al cliente que llama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54864" cy="27432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Cobranza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520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Calibri"/>
              </a:defRPr>
            </a:pPr>
            <a:r>
              <a:t>Compartir número en llamadas de seguimiento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77639"/>
            <a:ext cx="54864" cy="27432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776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Operaciones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9776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Calibri"/>
              </a:defRPr>
            </a:pPr>
            <a:r>
              <a:t>Compartir número al recibir queja en campo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34840"/>
            <a:ext cx="54864" cy="27432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Ventas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Calibri"/>
              </a:defRPr>
            </a:pPr>
            <a:r>
              <a:t>Compartir guía visual a clientes cautivos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892040"/>
            <a:ext cx="54864" cy="27432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Servicio al Cliente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Calibri"/>
              </a:defRPr>
            </a:pPr>
            <a:r>
              <a:t>Monitorear dashboard, atender chat, cerrar tickets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4688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46888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💡  Puntos clave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1E2E"/>
                </a:solidFill>
                <a:latin typeface="Calibri"/>
              </a:defRPr>
            </a:pPr>
            <a:r>
              <a:t>→  Todos los reportes se canalizan por WhatsApp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2644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1E2E"/>
                </a:solidFill>
                <a:latin typeface="Calibri"/>
              </a:defRPr>
            </a:pPr>
            <a:r>
              <a:t>→  Folio automático con trazabilidad completa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511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1E2E"/>
                </a:solidFill>
                <a:latin typeface="Calibri"/>
              </a:defRPr>
            </a:pPr>
            <a:r>
              <a:t>→  Agentes reciben notificación WhatsApp inmediata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75818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1E2E"/>
                </a:solidFill>
                <a:latin typeface="Calibri"/>
              </a:defRPr>
            </a:pPr>
            <a:r>
              <a:t>→  Tickets nunca se pierden (respaldados en Supabase)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0050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1E2E"/>
                </a:solidFill>
                <a:latin typeface="Calibri"/>
              </a:defRPr>
            </a:pPr>
            <a:r>
              <a:t>→  Al cerrar: diagnóstico + causa raíz obligatorios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251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1E2E"/>
                </a:solidFill>
                <a:latin typeface="Calibri"/>
              </a:defRPr>
            </a:pPr>
            <a:r>
              <a:t>→  Encuesta CSAT (1-5) automática al cliente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754880"/>
            <a:ext cx="5486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75488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🔗  Links del sistema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5303520"/>
            <a:ext cx="54864" cy="18288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53035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1E2E"/>
                </a:solidFill>
                <a:latin typeface="Calibri"/>
              </a:defRPr>
            </a:pPr>
            <a:r>
              <a:t>WhatsApp Bot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303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D8BF2"/>
                </a:solidFill>
                <a:latin typeface="Calibri"/>
              </a:defRPr>
            </a:pPr>
            <a:r>
              <a:t>wa.me/524491561238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577840"/>
            <a:ext cx="54864" cy="182880"/>
          </a:xfrm>
          <a:prstGeom prst="rect">
            <a:avLst/>
          </a:prstGeom>
          <a:solidFill>
            <a:srgbClr val="0D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5778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1E2E"/>
                </a:solidFill>
                <a:latin typeface="Calibri"/>
              </a:defRPr>
            </a:pPr>
            <a:r>
              <a:t>Dashboard CX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5778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D8BF2"/>
                </a:solidFill>
                <a:latin typeface="Calibri"/>
              </a:defRPr>
            </a:pPr>
            <a:r>
              <a:t>cx-dashboard-54yw.onrender.com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5852159"/>
            <a:ext cx="54864" cy="182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5852159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1E2E"/>
                </a:solidFill>
                <a:latin typeface="Calibri"/>
              </a:defRPr>
            </a:pPr>
            <a:r>
              <a:t>Chat Agentes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85215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D8BF2"/>
                </a:solidFill>
                <a:latin typeface="Calibri"/>
              </a:defRPr>
            </a:pPr>
            <a:r>
              <a:t>avantex-bot.onrender.com/dashboard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6126479"/>
            <a:ext cx="54864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6126479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1E2E"/>
                </a:solidFill>
                <a:latin typeface="Calibri"/>
              </a:defRPr>
            </a:pPr>
            <a:r>
              <a:t>Guía pública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612647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D8BF2"/>
                </a:solidFill>
                <a:latin typeface="Calibri"/>
              </a:defRPr>
            </a:pPr>
            <a:r>
              <a:t>cx-dashboard-54yw.onrender.com/guia.html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6263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AC"/>
                </a:solidFill>
                <a:latin typeface="Calibri"/>
              </a:defRPr>
            </a:pPr>
            <a:r>
              <a:t>Customer Experience  ·  Grupo Avantex  · 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