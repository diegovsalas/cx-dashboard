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8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87774"/>
                </a:solidFill>
                <a:latin typeface="Calibri"/>
              </a:defRPr>
            </a:pPr>
            <a:r>
              <a:t>GRUPO AVANTEX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Bot WhatsApp &amp; Dashboard 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87774"/>
                </a:solidFill>
                <a:latin typeface="Calibri"/>
              </a:defRPr>
            </a:pPr>
            <a:r>
              <a:t>Nuevo sistema de atención al cliente para reportes</a:t>
            </a:r>
            <a:br/>
            <a:r>
              <a:t>de incidencias, quejas y cancelaciones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4114800"/>
            <a:ext cx="1645920" cy="365760"/>
          </a:xfrm>
          <a:prstGeom prst="rect">
            <a:avLst/>
          </a:prstGeom>
          <a:solidFill>
            <a:srgbClr val="2D3139"/>
          </a:solidFill>
          <a:ln w="12700">
            <a:solidFill>
              <a:srgbClr val="25D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5D366"/>
                </a:solidFill>
                <a:latin typeface="Calibri"/>
              </a:defRPr>
            </a:pPr>
            <a:r>
              <a:t>Bot WhatsApp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4114800"/>
            <a:ext cx="1645920" cy="365760"/>
          </a:xfrm>
          <a:prstGeom prst="rect">
            <a:avLst/>
          </a:prstGeom>
          <a:solidFill>
            <a:srgbClr val="2D3139"/>
          </a:solidFill>
          <a:ln w="12700">
            <a:solidFill>
              <a:srgbClr val="0D8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8BF2"/>
                </a:solidFill>
                <a:latin typeface="Calibri"/>
              </a:defRPr>
            </a:pPr>
            <a:r>
              <a:t>Dashboard CX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4114800"/>
            <a:ext cx="1645920" cy="365760"/>
          </a:xfrm>
          <a:prstGeom prst="rect">
            <a:avLst/>
          </a:prstGeom>
          <a:solidFill>
            <a:srgbClr val="2D313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Calibri"/>
              </a:defRPr>
            </a:pPr>
            <a:r>
              <a:t>Chat Agentes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4937760"/>
            <a:ext cx="3657600" cy="457200"/>
          </a:xfrm>
          <a:prstGeom prst="rect">
            <a:avLst/>
          </a:prstGeom>
          <a:solidFill>
            <a:srgbClr val="1A3A1A"/>
          </a:solidFill>
          <a:ln w="12700">
            <a:solidFill>
              <a:srgbClr val="25D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4937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5D366"/>
                </a:solidFill>
                <a:latin typeface="Calibri"/>
              </a:defRPr>
            </a:pPr>
            <a:r>
              <a:t>+52 449 156 1238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Customer Experience · Abril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7352F"/>
                </a:solidFill>
                <a:latin typeface="Calibri"/>
              </a:defRPr>
            </a:pPr>
            <a:r>
              <a:t>01  Flujo del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774"/>
                </a:solidFill>
                <a:latin typeface="Calibri"/>
              </a:defRPr>
            </a:pPr>
            <a:r>
              <a:t>Cómo funciona el reporte de incidencias y cancelaciones por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2560320"/>
          </a:xfrm>
          <a:prstGeom prst="rect">
            <a:avLst/>
          </a:prstGeom>
          <a:solidFill>
            <a:srgbClr val="F7F6F3"/>
          </a:solidFill>
          <a:ln w="12700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📋 Flujo de Incidencias y Quejas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8BF2"/>
                </a:solidFill>
                <a:latin typeface="Calibri"/>
              </a:defRPr>
            </a:pPr>
            <a:r>
              <a:t>Hola → Nombre → Empresa → Sucursal → Servicio → Tipo → Descripción → FOLIO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352F"/>
                </a:solidFill>
                <a:latin typeface="Calibri"/>
              </a:defRPr>
            </a:pPr>
            <a:r>
              <a:t>Servicios: Aromatex · Pestex · Weldex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El cliente puede consultar su ticket, enviar evidencia fotográfica</a:t>
            </a:r>
            <a:br/>
            <a:r>
              <a:t>o solicitar agente humano en cualquier momento.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5486400" cy="2286000"/>
          </a:xfrm>
          <a:prstGeom prst="rect">
            <a:avLst/>
          </a:prstGeom>
          <a:solidFill>
            <a:srgbClr val="FDF0EF"/>
          </a:solidFill>
          <a:ln w="12700">
            <a:solidFill>
              <a:srgbClr val="F5D5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🔴 Flujo de Cancelaciones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B5757"/>
                </a:solidFill>
                <a:latin typeface="Calibri"/>
              </a:defRPr>
            </a:pPr>
            <a:r>
              <a:t>"Quiero cancelar" → Confirmar → Nombre → Empresa → Servicio → Motivo → FOLIO 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Detección automática de intención de cancelar.</a:t>
            </a:r>
            <a:br/>
            <a:r>
              <a:t>Se envían cláusulas de carta convenio (30 días, penalización 2 meses).</a:t>
            </a:r>
            <a:br/>
            <a:r>
              <a:t>Ticket con prioridad Alta, asignado a nallelyquiroz.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D3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👥 Asignación Automática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Incidencias / Quejas / Cambio aroma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965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8BF2"/>
                </a:solidFill>
                <a:latin typeface="Calibri"/>
              </a:defRPr>
            </a:pPr>
            <a:r>
              <a:t>anakaren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Cliente pide agente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8BF2"/>
                </a:solidFill>
                <a:latin typeface="Calibri"/>
              </a:defRPr>
            </a:pPr>
            <a:r>
              <a:t>anakaren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Cancelaciones de servicio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697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8BF2"/>
                </a:solidFill>
                <a:latin typeface="Calibri"/>
              </a:defRPr>
            </a:pPr>
            <a:r>
              <a:t>nallelyquiroz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63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Escalado desde kanban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8BF2"/>
                </a:solidFill>
                <a:latin typeface="Calibri"/>
              </a:defRPr>
            </a:pPr>
            <a:r>
              <a:t>diegovelazquez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🔔 Cada agente recibe WhatsApp con datos del cliente y link al dashboard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114800"/>
            <a:ext cx="2743200" cy="2286000"/>
          </a:xfrm>
          <a:prstGeom prst="rect">
            <a:avLst/>
          </a:prstGeom>
          <a:solidFill>
            <a:srgbClr val="FEF9E7"/>
          </a:solidFill>
          <a:ln w="12700">
            <a:solidFill>
              <a:srgbClr val="F5EA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⏰ Horario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4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L-V: 7:30am – 6:00pm</a:t>
            </a:r>
            <a:br/>
            <a:r>
              <a:t>Sáb: 9:00am – 12:00pm</a:t>
            </a:r>
            <a:br/>
            <a:r>
              <a:t>Dom: No disponible</a:t>
            </a:r>
            <a:br/>
            <a:br/>
            <a:r>
              <a:t>Fuera de horario el ticket se</a:t>
            </a:r>
            <a:br/>
            <a:r>
              <a:t>registra para el siguiente día hábil.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4114800"/>
            <a:ext cx="2468880" cy="2286000"/>
          </a:xfrm>
          <a:prstGeom prst="rect">
            <a:avLst/>
          </a:prstGeom>
          <a:solidFill>
            <a:srgbClr val="EDF9EE"/>
          </a:solidFill>
          <a:ln w="12700">
            <a:solidFill>
              <a:srgbClr val="D4E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4206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⭐ CSAT &amp; NPS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6634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Encuesta 1-5 al cerrar ticket:</a:t>
            </a:r>
            <a:br/>
            <a:br/>
            <a:r>
              <a:t>5 = Promotor</a:t>
            </a:r>
            <a:br/>
            <a:r>
              <a:t>4 = Pasivo</a:t>
            </a:r>
            <a:br/>
            <a:r>
              <a:t>1-3 = Detractor</a:t>
            </a:r>
            <a:br/>
            <a:br/>
            <a:r>
              <a:t>NPS = %Prom − %Det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7352F"/>
                </a:solidFill>
                <a:latin typeface="Calibri"/>
              </a:defRPr>
            </a:pPr>
            <a:r>
              <a:t>02  Dashboard CX &amp; Chat de Agentes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774"/>
                </a:solidFill>
                <a:latin typeface="Calibri"/>
              </a:defRPr>
            </a:pPr>
            <a:r>
              <a:t>Plataformas para monitorear, gestionar y resolver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2743200"/>
          </a:xfrm>
          <a:prstGeom prst="rect">
            <a:avLst/>
          </a:prstGeom>
          <a:solidFill>
            <a:srgbClr val="F7F6F3"/>
          </a:solidFill>
          <a:ln w="12700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📊 Dashboard 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cx-dashboard-54yw.onrender.com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→  Inicio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03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Guía del proceso, WhatsApp, QR, descarga guía visual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→ 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688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KPIs, gráficas por tipo/servicio/zona/mes, NPS, CSAT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→  Registros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834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Búsqueda global, filtros, modal de detalle editable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→  Cancelaciones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200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Montos: Cancelado / Retenido / En negociación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→  Tickets 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Tickets del bot, zona editable, modal completo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5486400" cy="2286000"/>
          </a:xfrm>
          <a:prstGeom prst="rect">
            <a:avLst/>
          </a:prstGeom>
          <a:solidFill>
            <a:srgbClr val="E8F4FD"/>
          </a:solidFill>
          <a:ln w="12700">
            <a:solidFill>
              <a:srgbClr val="D3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💬 Chat de Agentes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avantex-bot.onrender.com/dashboard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Chat en tiempo real con clientes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Kanban: Nuevo → En proceso → 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77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Stats: KPIs, NPS, CSAT en tiempo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Tomar control: agente responde por el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Enviar encuesta CSAT al cliente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F7F6F3"/>
          </a:solidFill>
          <a:ln w="12700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🔐 Roles y 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B5757"/>
                </a:solidFill>
                <a:latin typeface="Calibri"/>
              </a:defRPr>
            </a:pPr>
            <a:r>
              <a:t>Superadmin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1920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diegovelazquez@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03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Todo + eliminar + editar nombres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4231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8BF2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servicioalcliente@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06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Editar status, comentarios, montos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Consulta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87774"/>
                </a:solidFill>
                <a:latin typeface="Calibri"/>
              </a:defRPr>
            </a:pPr>
            <a:r>
              <a:t>cobranza@, comercial@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108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Solo lectura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840480"/>
            <a:ext cx="5486400" cy="2743200"/>
          </a:xfrm>
          <a:prstGeom prst="rect">
            <a:avLst/>
          </a:prstGeom>
          <a:solidFill>
            <a:srgbClr val="FEF9E7"/>
          </a:solidFill>
          <a:ln w="12700">
            <a:solidFill>
              <a:srgbClr val="F5EA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31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✏️ Campos Editables y Cierre de Tickets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976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Status del ticket (Nuevo → En proceso → Resuelto → Cerrado)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526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Comentarios de seguimiento (textarea editable)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7548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Status de cancelación (Negociación / Retenida / Cancelada)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9834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Monto de facturación sin IVA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212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Zona, fecha de solución, carta convenio, 19+ campos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4406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6400800" y="5669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7352F"/>
                </a:solidFill>
                <a:latin typeface="Calibri"/>
              </a:defRPr>
            </a:pPr>
            <a:r>
              <a:t>AL CERRAR (obligatorio):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8978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B5757"/>
                </a:solidFill>
                <a:latin typeface="Calibri"/>
              </a:defRPr>
            </a:pPr>
            <a:r>
              <a:t>⚠️  Diagnóstico — ¿Qué se encontró o se hizo?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61264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B5757"/>
                </a:solidFill>
                <a:latin typeface="Calibri"/>
              </a:defRPr>
            </a:pPr>
            <a:r>
              <a:t>⚠️  Causa raíz — ¿Qué originó el problema?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6355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352F"/>
                </a:solidFill>
                <a:latin typeface="Calibri"/>
              </a:defRPr>
            </a:pPr>
            <a:r>
              <a:t>📅  Fecha solución y tiempo de respuesta (automáticos)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7352F"/>
                </a:solidFill>
                <a:latin typeface="Calibri"/>
              </a:defRPr>
            </a:pPr>
            <a:r>
              <a:t>03  ¿Qué debe hacer el equipo?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87774"/>
                </a:solidFill>
                <a:latin typeface="Calibri"/>
              </a:defRPr>
            </a:pPr>
            <a:r>
              <a:t>Instrucciones para canalizar clientes al nuevo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solidFill>
            <a:srgbClr val="EDF9EE"/>
          </a:solidFill>
          <a:ln w="12700">
            <a:solidFill>
              <a:srgbClr val="D4E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1A"/>
                </a:solidFill>
                <a:latin typeface="Calibri"/>
              </a:defRPr>
            </a:pPr>
            <a:r>
              <a:t>✅  REGLA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7352F"/>
                </a:solidFill>
                <a:latin typeface="Calibri"/>
              </a:defRPr>
            </a:pPr>
            <a:r>
              <a:t>Cuando un cliente reporte una queja o incidencia, oriéntalo a escribir "Hola" al WhatsApp de soporte: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373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3A1A"/>
                </a:solidFill>
                <a:latin typeface="Calibri"/>
              </a:defRPr>
            </a:pPr>
            <a:r>
              <a:t>+52 449 156 1238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5486400" cy="3200400"/>
          </a:xfrm>
          <a:prstGeom prst="rect">
            <a:avLst/>
          </a:prstGeom>
          <a:solidFill>
            <a:srgbClr val="F7F6F3"/>
          </a:solidFill>
          <a:ln w="12700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🏢 Por área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Administración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83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Compartir número al cliente que llama con queja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Cobranza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840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Compartir número en llamadas de seguimiento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Operaciones / Técnicos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Compartir número cuando reciban queja en campo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Ventas / Comercial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754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Compartir guía visual a clientes cautivos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7352F"/>
                </a:solidFill>
                <a:latin typeface="Calibri"/>
              </a:defRPr>
            </a:pPr>
            <a:r>
              <a:t>Servicio al 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Monitorear dashboard, atender chat, cerrar tickets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834640"/>
            <a:ext cx="5486400" cy="3200400"/>
          </a:xfrm>
          <a:prstGeom prst="rect">
            <a:avLst/>
          </a:prstGeom>
          <a:solidFill>
            <a:srgbClr val="FEF9E7"/>
          </a:solidFill>
          <a:ln w="12700">
            <a:solidFill>
              <a:srgbClr val="F5EA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7352F"/>
                </a:solidFill>
                <a:latin typeface="Calibri"/>
              </a:defRPr>
            </a:pPr>
            <a:r>
              <a:t>💡 Puntos clave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Todos los reportes se canalizan por WhatsApp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307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Folio automático con trazabilidad completa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Agentes reciben notificación WhatsApp inmediata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256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Tickets nunca se pierden (respaldados en Supabase)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731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Al cerrar: diagnóstico + causa raíz obligatorios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Encuesta CSAT (1-5) automática al cliente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468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352F"/>
                </a:solidFill>
                <a:latin typeface="Calibri"/>
              </a:defRPr>
            </a:pPr>
            <a:r>
              <a:t>→  Guía visual descargable desde Dashboard → Inicio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94360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87774"/>
                </a:solidFill>
                <a:latin typeface="Calibri"/>
              </a:defRPr>
            </a:pPr>
            <a:r>
              <a:t>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1722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7352F"/>
                </a:solidFill>
                <a:latin typeface="Calibri"/>
              </a:defRPr>
            </a:pPr>
            <a:r>
              <a:t>WhatsApp Bot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17220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D8BF2"/>
                </a:solidFill>
                <a:latin typeface="Calibri"/>
              </a:defRPr>
            </a:pPr>
            <a:r>
              <a:t>wa.me/524491561238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3733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7352F"/>
                </a:solidFill>
                <a:latin typeface="Calibri"/>
              </a:defRPr>
            </a:pPr>
            <a:r>
              <a:t>Dashboard CX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63733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D8BF2"/>
                </a:solidFill>
                <a:latin typeface="Calibri"/>
              </a:defRPr>
            </a:pPr>
            <a:r>
              <a:t>cx-dashboard-54yw.onrender.com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57453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7352F"/>
                </a:solidFill>
                <a:latin typeface="Calibri"/>
              </a:defRPr>
            </a:pPr>
            <a:r>
              <a:t>Chat Agentes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657453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D8BF2"/>
                </a:solidFill>
                <a:latin typeface="Calibri"/>
              </a:defRPr>
            </a:pPr>
            <a:r>
              <a:t>avantex-bot.onrender.com/dashboard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87774"/>
                </a:solidFill>
                <a:latin typeface="Calibri"/>
              </a:defRPr>
            </a:pPr>
            <a:r>
              <a:t>Customer Experience · Grupo Avantex · Abril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